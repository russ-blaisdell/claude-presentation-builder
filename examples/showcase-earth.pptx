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Georgia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8F00"/>
                </a:solidFill>
                <a:latin typeface="Georgia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Arial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5D4037"/>
                </a:solidFill>
                <a:latin typeface="Arial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D4037"/>
                </a:solidFill>
                <a:latin typeface="Georgia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E2723"/>
                </a:solidFill>
                <a:latin typeface="Arial"/>
              </a:rPr>
              <a:t>45-minute average deploy cycle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3.2 incidents per week from config drift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14 days to onboard a new engineer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D4037"/>
                </a:solidFill>
                <a:latin typeface="Georgia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E2723"/>
                </a:solidFill>
                <a:latin typeface="Arial"/>
              </a:rPr>
              <a:t>Sub-5-minute deploys via self-service CI/CD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Zero-drift infrastructure as code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2-day engineer onboarding</a:t>
            </a:r>
          </a:p>
          <a:p/>
          <a:p>
            <a:r>
              <a:rPr sz="1000">
                <a:solidFill>
                  <a:srgbClr val="3E2723"/>
                </a:solidFill>
                <a:latin typeface="Arial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5D4037"/>
                </a:solidFill>
                <a:latin typeface="Georgia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E2723"/>
                </a:solidFill>
                <a:latin typeface="Arial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5D4037"/>
                </a:solidFill>
                <a:latin typeface="Georgia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E2723"/>
                </a:solidFill>
                <a:latin typeface="Arial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5D4037"/>
                </a:solidFill>
                <a:latin typeface="Georgia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E2723"/>
                </a:solidFill>
                <a:latin typeface="Arial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D4037"/>
                </a:solidFill>
                <a:latin typeface="Georgia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E2723"/>
                </a:solidFill>
                <a:latin typeface="Arial"/>
              </a:rPr>
              <a:t>Terraform modules with guardrails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One-click environment provisioning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D4037"/>
                </a:solidFill>
                <a:latin typeface="Georgia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E2723"/>
                </a:solidFill>
                <a:latin typeface="Arial"/>
              </a:rPr>
              <a:t>Standardized build and deploy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Automatic security scanning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D4037"/>
                </a:solidFill>
                <a:latin typeface="Georgia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E2723"/>
                </a:solidFill>
                <a:latin typeface="Arial"/>
              </a:rPr>
              <a:t>Golden path service templates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API-first design standards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D4037"/>
                </a:solidFill>
                <a:latin typeface="Georgia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E2723"/>
                </a:solidFill>
                <a:latin typeface="Arial"/>
              </a:rPr>
              <a:t>Unified metrics and tracing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SLA-driven alerting</a:t>
            </a:r>
          </a:p>
          <a:p/>
          <a:p>
            <a:r>
              <a:rPr sz="900">
                <a:solidFill>
                  <a:srgbClr val="3E2723"/>
                </a:solidFill>
                <a:latin typeface="Arial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5D4037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5D4037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5D4037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5D4037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D4037"/>
                          </a:solidFill>
                          <a:latin typeface="Arial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D4037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D4037"/>
                          </a:solidFill>
                          <a:latin typeface="Arial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D4037"/>
                          </a:solidFill>
                          <a:latin typeface="Arial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E2723"/>
                          </a:solidFill>
                          <a:latin typeface="Arial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D4037"/>
                </a:solidFill>
                <a:latin typeface="Georgia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5D4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D4037"/>
                </a:solidFill>
                <a:latin typeface="Georgia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D4037"/>
                </a:solidFill>
                <a:latin typeface="Georgia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D4037"/>
                </a:solidFill>
                <a:latin typeface="Georgia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D7C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FBF8F3"/>
          </a:solidFill>
          <a:ln w="9525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D4037"/>
                </a:solidFill>
                <a:latin typeface="Arial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5D4037"/>
                </a:solidFill>
                <a:latin typeface="Georgia"/>
              </a:rPr>
              <a:t>&lt; 5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E2723"/>
                </a:solidFill>
                <a:latin typeface="Arial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5D4037"/>
                </a:solidFill>
                <a:latin typeface="Georgia"/>
              </a:rPr>
              <a:t>&lt; 30 min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E2723"/>
                </a:solidFill>
                <a:latin typeface="Arial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5D4037"/>
                </a:solidFill>
                <a:latin typeface="Georgia"/>
              </a:rPr>
              <a:t>85%</a:t>
            </a:r>
            <a:r>
              <a:rPr sz="1400">
                <a:solidFill>
                  <a:srgbClr val="4EC98B"/>
                </a:solidFill>
                <a:latin typeface="Arial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E2723"/>
                </a:solidFill>
                <a:latin typeface="Arial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5D4037"/>
                </a:solidFill>
                <a:latin typeface="Georgia"/>
              </a:rPr>
              <a:t>2 days</a:t>
            </a:r>
            <a:r>
              <a:rPr sz="1400">
                <a:solidFill>
                  <a:srgbClr val="E85D5D"/>
                </a:solidFill>
                <a:latin typeface="Arial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E2723"/>
                </a:solidFill>
                <a:latin typeface="Arial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55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Georgia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58B2F"/>
                </a:solidFill>
                <a:latin typeface="Arial"/>
              </a:rPr>
              <a:t>✓  </a:t>
            </a:r>
            <a:r>
              <a:rPr sz="900">
                <a:solidFill>
                  <a:srgbClr val="3E2723"/>
                </a:solidFill>
                <a:latin typeface="Arial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58B2F"/>
                </a:solidFill>
                <a:latin typeface="Arial"/>
              </a:rPr>
              <a:t>✓  </a:t>
            </a:r>
            <a:r>
              <a:rPr sz="900">
                <a:solidFill>
                  <a:srgbClr val="3E2723"/>
                </a:solidFill>
                <a:latin typeface="Arial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58B2F"/>
                </a:solidFill>
                <a:latin typeface="Arial"/>
              </a:rPr>
              <a:t>✓  </a:t>
            </a:r>
            <a:r>
              <a:rPr sz="900">
                <a:solidFill>
                  <a:srgbClr val="3E2723"/>
                </a:solidFill>
                <a:latin typeface="Arial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Georgia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F360C"/>
                </a:solidFill>
                <a:latin typeface="Arial"/>
              </a:rPr>
              <a:t>✗  </a:t>
            </a:r>
            <a:r>
              <a:rPr sz="900">
                <a:solidFill>
                  <a:srgbClr val="3E2723"/>
                </a:solidFill>
                <a:latin typeface="Arial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F360C"/>
                </a:solidFill>
                <a:latin typeface="Arial"/>
              </a:rPr>
              <a:t>✗  </a:t>
            </a:r>
            <a:r>
              <a:rPr sz="900">
                <a:solidFill>
                  <a:srgbClr val="3E2723"/>
                </a:solidFill>
                <a:latin typeface="Arial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F360C"/>
                </a:solidFill>
                <a:latin typeface="Arial"/>
              </a:rPr>
              <a:t>✗  </a:t>
            </a:r>
            <a:r>
              <a:rPr sz="900">
                <a:solidFill>
                  <a:srgbClr val="3E2723"/>
                </a:solidFill>
                <a:latin typeface="Arial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5D4037"/>
                </a:solidFill>
                <a:latin typeface="Georgia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E2723"/>
                </a:solidFill>
                <a:latin typeface="Arial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Arial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5D4037"/>
      </a:dk1>
      <a:lt1>
        <a:srgbClr val="FFFFFF"/>
      </a:lt1>
      <a:dk2>
        <a:srgbClr val="FF8F00"/>
      </a:dk2>
      <a:lt2>
        <a:srgbClr val="FBF8F3"/>
      </a:lt2>
      <a:accent1>
        <a:srgbClr val="5D4037"/>
      </a:accent1>
      <a:accent2>
        <a:srgbClr val="DED8D7"/>
      </a:accent2>
      <a:accent3>
        <a:srgbClr val="A1887F"/>
      </a:accent3>
      <a:accent4>
        <a:srgbClr val="FFFFFF"/>
      </a:accent4>
      <a:accent5>
        <a:srgbClr val="372621"/>
      </a:accent5>
      <a:accent6>
        <a:srgbClr val="FBF8F3"/>
      </a:accent6>
      <a:hlink>
        <a:srgbClr val="5D4037"/>
      </a:hlink>
      <a:folHlink>
        <a:srgbClr val="412C26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5D4037"/>
      </a:dk1>
      <a:lt1>
        <a:srgbClr val="FFFFFF"/>
      </a:lt1>
      <a:dk2>
        <a:srgbClr val="FF8F00"/>
      </a:dk2>
      <a:lt2>
        <a:srgbClr val="FBF8F3"/>
      </a:lt2>
      <a:accent1>
        <a:srgbClr val="5D4037"/>
      </a:accent1>
      <a:accent2>
        <a:srgbClr val="DED8D7"/>
      </a:accent2>
      <a:accent3>
        <a:srgbClr val="A1887F"/>
      </a:accent3>
      <a:accent4>
        <a:srgbClr val="FFFFFF"/>
      </a:accent4>
      <a:accent5>
        <a:srgbClr val="372621"/>
      </a:accent5>
      <a:accent6>
        <a:srgbClr val="FBF8F3"/>
      </a:accent6>
      <a:hlink>
        <a:srgbClr val="5D4037"/>
      </a:hlink>
      <a:folHlink>
        <a:srgbClr val="412C26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